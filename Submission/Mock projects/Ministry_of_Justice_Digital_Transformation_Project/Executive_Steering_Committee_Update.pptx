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MINISTRY OF JUSTICE DIGITAL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mbria"/>
              </a:rPr>
              <a:t>Executive Steering Committee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D4"/>
                </a:solidFill>
                <a:latin typeface="Calibri"/>
              </a:rPr>
              <a:t>Meridian Strategy Partners  |  Confidential  |  September 30,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9A8A5"/>
                </a:solidFill>
                <a:latin typeface="Calibri"/>
              </a:rPr>
              <a:t>Fictional placeholder data — internal project simulation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C6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mbria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635C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4630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B2A4A"/>
                </a:solidFill>
                <a:latin typeface="Calibri"/>
              </a:rPr>
              <a:t>Engagement recap &amp;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635C"/>
                </a:solidFill>
                <a:latin typeface="Cambri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B2A4A"/>
                </a:solidFill>
                <a:latin typeface="Calibri"/>
              </a:rPr>
              <a:t>Current-state diagnostic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635C"/>
                </a:solidFill>
                <a:latin typeface="Cambri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1089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B2A4A"/>
                </a:solidFill>
                <a:latin typeface="Calibri"/>
              </a:rPr>
              <a:t>Future-state scenario comparison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635C"/>
                </a:solidFill>
                <a:latin typeface="Cambria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9319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B2A4A"/>
                </a:solidFill>
                <a:latin typeface="Calibri"/>
              </a:rPr>
              <a:t>Recommendation &amp; investment 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635C"/>
                </a:solidFill>
                <a:latin typeface="Cambria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7548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B2A4A"/>
                </a:solidFill>
                <a:latin typeface="Calibri"/>
              </a:rPr>
              <a:t>Implementation roadmap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C6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mbria"/>
              </a:rPr>
              <a:t>Engagement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Ministry of Justice Digital Transformation  |  Aug 2026–Mar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C635C"/>
                </a:solidFill>
                <a:latin typeface="Cambria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5915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Directorates in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17373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C635C"/>
                </a:solidFill>
                <a:latin typeface="Cambria"/>
              </a:rPr>
              <a:t>1.9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235915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Avg. digital maturity score (current, of 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7373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C635C"/>
                </a:solidFill>
                <a:latin typeface="Cambria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35915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Core systems &amp; processes reviewed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17373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C635C"/>
                </a:solidFill>
                <a:latin typeface="Cambria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235915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Weeks to recommendation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918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B2A4A"/>
                </a:solidFill>
                <a:latin typeface="Calibri"/>
              </a:rPr>
              <a:t>Objective: Design an implementation-ready future-state digital operating model for the Ministry of Justice that modernizes core case-management and registry systems, expands citizen self-service, and reduces reliance on paper-based and legacy mainframe processes while managing cybersecurity and data-protection risk.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C6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mbria"/>
              </a:rPr>
              <a:t>Diagnostic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635C"/>
                </a:solidFill>
                <a:latin typeface="Cambria"/>
              </a:rPr>
              <a:t>Legacy mainframe dependency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2A4A"/>
                </a:solidFill>
                <a:latin typeface="Calibri"/>
              </a:rPr>
              <a:t>Core case-management (Net HaMishpat) and Land Registry (Tabu) systems run on 1990s-2000s mainframe technology with no active vendor support.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635C"/>
                </a:solidFill>
                <a:latin typeface="Cambria"/>
              </a:rPr>
              <a:t>Paper-based bottlenecks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2A4A"/>
                </a:solidFill>
                <a:latin typeface="Calibri"/>
              </a:rPr>
              <a:t>12 of 15 core citizen-facing processes still require an in-person visit, wet-ink signature, or manual document scanning at some stage.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03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635C"/>
                </a:solidFill>
                <a:latin typeface="Cambria"/>
              </a:rPr>
              <a:t>Fragmented system landscape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69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2A4A"/>
                </a:solidFill>
                <a:latin typeface="Calibri"/>
              </a:rPr>
              <a:t>32 systems across 5 directorates with minimal API interoperability, driving duplicate data entry and reconciliation effort.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635C"/>
                </a:solidFill>
                <a:latin typeface="Cambria"/>
              </a:rPr>
              <a:t>Uneven cybersecurity posture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12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2A4A"/>
                </a:solidFill>
                <a:latin typeface="Calibri"/>
              </a:rPr>
              <a:t>Directorates score 2-4 (of 5) on cybersecurity maturity; legacy systems carry the highest exposure to data-protection risk.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C6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mbria"/>
              </a:rPr>
              <a:t>Future-State Scenario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80160" y="1463040"/>
          <a:ext cx="96012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300"/>
                <a:gridCol w="2400300"/>
                <a:gridCol w="2400300"/>
                <a:gridCol w="24003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1C63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A: Baseline</a:t>
                      </a:r>
                    </a:p>
                  </a:txBody>
                  <a:tcPr>
                    <a:solidFill>
                      <a:srgbClr val="1C63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B: Phased</a:t>
                      </a:r>
                    </a:p>
                  </a:txBody>
                  <a:tcPr>
                    <a:solidFill>
                      <a:srgbClr val="1C63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C: Accelerated</a:t>
                      </a:r>
                    </a:p>
                  </a:txBody>
                  <a:tcPr>
                    <a:solidFill>
                      <a:srgbClr val="1C63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  <a:latin typeface="Calibri"/>
                        </a:rPr>
                        <a:t>Legacy Systems Retired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  <a:latin typeface="Calibri"/>
                        </a:rPr>
                        <a:t>Citizen Services Digitized (of 12)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  <a:latin typeface="Calibri"/>
                        </a:rPr>
                        <a:t>Est. Program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  <a:latin typeface="Calibri"/>
                        </a:rPr>
                        <a:t>~₪25M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  <a:latin typeface="Calibri"/>
                        </a:rPr>
                        <a:t>~₪46M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  <a:latin typeface="Calibri"/>
                        </a:rPr>
                        <a:t>Citizen Wait-Time Reduction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  <a:latin typeface="Calibri"/>
                        </a:rPr>
                        <a:t>35%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  <a:latin typeface="Calibri"/>
                        </a:rPr>
                        <a:t>60%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  <a:latin typeface="Calibri"/>
                        </a:rPr>
                        <a:t>Timeline to Implement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  <a:latin typeface="Calibri"/>
                        </a:rPr>
                        <a:t>14 months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  <a:latin typeface="Calibri"/>
                        </a:rPr>
                        <a:t>22 months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280160" y="50292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95959"/>
                </a:solidFill>
                <a:latin typeface="Calibri"/>
              </a:rPr>
              <a:t>Fictional placeholder figures for project simulation purposes.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C6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mbria"/>
              </a:rPr>
              <a:t>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635C"/>
                </a:solidFill>
                <a:latin typeface="Cambria"/>
              </a:rPr>
              <a:t>Adopt Scenario B — Phased Modernization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B2A4A"/>
                </a:solidFill>
                <a:latin typeface="Calibri"/>
              </a:rPr>
              <a:t>Best balance of citizen service improvement (~35% wait-time reduction) against implementation risk, procurement timelines, and budget cycle constraints, within a manageable 14-month rollout.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C635C"/>
                </a:solidFill>
                <a:latin typeface="Cambria"/>
              </a:rPr>
              <a:t>₪25M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3075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Total program investment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31089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C635C"/>
                </a:solidFill>
                <a:latin typeface="Cambria"/>
              </a:rPr>
              <a:t>₪2.8M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373075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Annual maintenance cost avoided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1089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C635C"/>
                </a:solidFill>
                <a:latin typeface="Cambria"/>
              </a:rPr>
              <a:t>~9 yrs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373075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Payback period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937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Calibri"/>
              </a:rPr>
              <a:t>Next step: Steering Committee approval to proceed to vendor selection per Section 5 of the Project Charter.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C6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mbria"/>
              </a:rPr>
              <a:t>Implementation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2697480" cy="457200"/>
          </a:xfrm>
          <a:prstGeom prst="rect">
            <a:avLst/>
          </a:prstGeom>
          <a:solidFill>
            <a:srgbClr val="1C6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2697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Q4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2A4A"/>
                </a:solidFill>
                <a:latin typeface="Cambria"/>
              </a:rPr>
              <a:t>Vendor Selection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2697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595959"/>
                </a:solidFill>
                <a:latin typeface="Calibri"/>
              </a:rPr>
              <a:t>RFP process and vendor selection for case management and registry platforms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53619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635C"/>
                </a:solidFill>
                <a:latin typeface="Cambria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554480"/>
            <a:ext cx="2697480" cy="457200"/>
          </a:xfrm>
          <a:prstGeom prst="rect">
            <a:avLst/>
          </a:prstGeom>
          <a:solidFill>
            <a:srgbClr val="1C6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572768"/>
            <a:ext cx="2697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Q1 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14884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2A4A"/>
                </a:solidFill>
                <a:latin typeface="Cambria"/>
              </a:rPr>
              <a:t>Pilot Rollout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651760"/>
            <a:ext cx="2697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595959"/>
                </a:solidFill>
                <a:latin typeface="Calibri"/>
              </a:rPr>
              <a:t>Pilot deployment at 2 regional court sites; Tabu registry migration begins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153619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635C"/>
                </a:solidFill>
                <a:latin typeface="Cambria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554480"/>
            <a:ext cx="2697480" cy="457200"/>
          </a:xfrm>
          <a:prstGeom prst="rect">
            <a:avLst/>
          </a:prstGeom>
          <a:solidFill>
            <a:srgbClr val="1C6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572768"/>
            <a:ext cx="2697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Q1–Q2 2027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14884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2A4A"/>
                </a:solidFill>
                <a:latin typeface="Cambria"/>
              </a:rPr>
              <a:t>Phased Rollout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651760"/>
            <a:ext cx="2697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595959"/>
                </a:solidFill>
                <a:latin typeface="Calibri"/>
              </a:rPr>
              <a:t>Staged rollout across remaining court sites and directorates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53619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635C"/>
                </a:solidFill>
                <a:latin typeface="Cambria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15400" y="1554480"/>
            <a:ext cx="2697480" cy="457200"/>
          </a:xfrm>
          <a:prstGeom prst="rect">
            <a:avLst/>
          </a:prstGeom>
          <a:solidFill>
            <a:srgbClr val="1C6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400" y="1572768"/>
            <a:ext cx="2697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Q2 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214884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2A4A"/>
                </a:solidFill>
                <a:latin typeface="Cambria"/>
              </a:rPr>
              <a:t>Stabilization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2651760"/>
            <a:ext cx="2697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595959"/>
                </a:solidFill>
                <a:latin typeface="Calibri"/>
              </a:rPr>
              <a:t>30/60/90-day check-ins, citizen service adoption tracking, legacy system decommission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95959"/>
                </a:solidFill>
                <a:latin typeface="Calibri"/>
              </a:rPr>
              <a:t>Confidential — Meridian Strategy Partners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