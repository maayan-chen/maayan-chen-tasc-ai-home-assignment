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FFFFFF"/>
                </a:solidFill>
                <a:latin typeface="David"/>
              </a:rPr>
              <a:t>עדכון סטטוס לצוות מערכות מידע ומשפט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David"/>
              </a:rPr>
              <a:t>פרויקט טרנספורמציה דיגיטלית — משרד המשפטים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CCD6D4"/>
                </a:solidFill>
                <a:latin typeface="David"/>
              </a:rPr>
              <a:t>Meridian Strategy Partners  |  סודי  |  10 בספטמבר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1">
                <a:solidFill>
                  <a:srgbClr val="99A8A5"/>
                </a:solidFill>
                <a:latin typeface="David"/>
              </a:rPr>
              <a:t>נתוני דמה בדיוניים — לצורך סימולציית פרויקט בלבד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6152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FFFFFF"/>
                </a:solidFill>
                <a:latin typeface="David"/>
              </a:rPr>
              <a:t>סדר יום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635C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1B2A4A"/>
                </a:solidFill>
                <a:latin typeface="David"/>
              </a:rPr>
              <a:t>רקע ומטרות הפרויקט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635C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1B2A4A"/>
                </a:solidFill>
                <a:latin typeface="David"/>
              </a:rPr>
              <a:t>ממצאי אבחון המצב הקיים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635C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1B2A4A"/>
                </a:solidFill>
                <a:latin typeface="David"/>
              </a:rPr>
              <a:t>השפעה צפויה על צוות מערכות מידע ומשפט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635C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1B2A4A"/>
                </a:solidFill>
                <a:latin typeface="David"/>
              </a:rPr>
              <a:t>לוח זמנים להטמעה ולהדרכה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C635C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0" i="0">
                <a:solidFill>
                  <a:srgbClr val="1B2A4A"/>
                </a:solidFill>
                <a:latin typeface="David"/>
              </a:rPr>
              <a:t>שאלות ותשובות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6152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FFFFFF"/>
                </a:solidFill>
                <a:latin typeface="David"/>
              </a:rPr>
              <a:t>רקע הפרויקט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FFFFFF"/>
                </a:solidFill>
                <a:latin typeface="David"/>
              </a:rPr>
              <a:t>טרנספורמציה דיגיטלית — משרד המשפטים  |  אוגוסט 2026–מרץ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591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 i="0">
                <a:solidFill>
                  <a:srgbClr val="595959"/>
                </a:solidFill>
                <a:latin typeface="David"/>
              </a:rPr>
              <a:t>אגפים בהיקף הפרויקט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1.9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3591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 i="0">
                <a:solidFill>
                  <a:srgbClr val="595959"/>
                </a:solidFill>
                <a:latin typeface="David"/>
              </a:rPr>
              <a:t>ציון בגרות דיגיטלית ממוצע (נוכחי, מתוך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591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 i="0">
                <a:solidFill>
                  <a:srgbClr val="595959"/>
                </a:solidFill>
                <a:latin typeface="David"/>
              </a:rPr>
              <a:t>מערכות ותהליכים שנבדקו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C635C"/>
                </a:solidFill>
                <a:latin typeface="Cambria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359152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00" b="0" i="0">
                <a:solidFill>
                  <a:srgbClr val="595959"/>
                </a:solidFill>
                <a:latin typeface="David"/>
              </a:rPr>
              <a:t>שבועות עד להמלצה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0" i="0">
                <a:solidFill>
                  <a:srgbClr val="1B2A4A"/>
                </a:solidFill>
                <a:latin typeface="David"/>
              </a:rPr>
              <a:t>מטרה: לעצב מבנה טכנולוגי עתידי, ברור וישים, למשרד המשפטים, אשר ממדרן את מערכות הליבה (ניהול תיקים, רישום מקרקעין), מרחיב שירות עצמי לאזרח ומצמצם תלות בתהליכים ידניים ומבוססי נייר — תוך ניהול סיכוני אבטחת מידע והגנת הפרטיות.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6152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FFFFFF"/>
                </a:solidFill>
                <a:latin typeface="David"/>
              </a:rPr>
              <a:t>ממצאי האבחון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1C635C"/>
                </a:solidFill>
                <a:latin typeface="David"/>
              </a:rPr>
              <a:t>תלות במיינפריים ישן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1B2A4A"/>
                </a:solidFill>
                <a:latin typeface="David"/>
              </a:rPr>
              <a:t>מערכות הליבה — נט המשפט ורישום המקרקעין (טאבו) — פועלות על גבי טכנולוגיית מיינפריים משנות ה-90 וה-2000, ללא תמיכת ספק פעילה.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1C635C"/>
                </a:solidFill>
                <a:latin typeface="David"/>
              </a:rPr>
              <a:t>צווארי בקבוק מבוססי נייר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1B2A4A"/>
                </a:solidFill>
                <a:latin typeface="David"/>
              </a:rPr>
              <a:t>12 מתוך 15 תהליכים מרכזיים הפונים לאזרח עדיין דורשים הגעה פיזית, חתימה בכתב יד או סריקה ידנית של מסמכים.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1C635C"/>
                </a:solidFill>
                <a:latin typeface="David"/>
              </a:rPr>
              <a:t>נוף מערכות מפוצל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1B2A4A"/>
                </a:solidFill>
                <a:latin typeface="David"/>
              </a:rPr>
              <a:t>32 מערכות בפריסה על פני 5 אגפים, עם אינטגרציה מוגבלת בין מערכות, מה שיוצר הזנת נתונים כפולה ועבודת התאמות.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1" i="0">
                <a:solidFill>
                  <a:srgbClr val="1C635C"/>
                </a:solidFill>
                <a:latin typeface="David"/>
              </a:rPr>
              <a:t>רמת אבטחת מידע לא אחידה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 i="0">
                <a:solidFill>
                  <a:srgbClr val="1B2A4A"/>
                </a:solidFill>
                <a:latin typeface="David"/>
              </a:rPr>
              <a:t>האגפים מדורגים 2–4 (מתוך 5) בבגרות אבטחת מידע; המערכות הישנות ביותר חשופות ביותר לסיכוני הגנת הפרטיות.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6152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FFFFFF"/>
                </a:solidFill>
                <a:latin typeface="David"/>
              </a:rPr>
              <a:t>השפעה צפויה על צוות מערכות מידע ומשפט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80160" y="1463040"/>
          <a:ext cx="9601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  <a:gridCol w="240030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סטטוס</a:t>
                      </a:r>
                    </a:p>
                  </a:txBody>
                  <a:tcPr>
                    <a:solidFill>
                      <a:srgbClr val="1C6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מועד יעד</a:t>
                      </a:r>
                    </a:p>
                  </a:txBody>
                  <a:tcPr>
                    <a:solidFill>
                      <a:srgbClr val="1C6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אחראי</a:t>
                      </a:r>
                    </a:p>
                  </a:txBody>
                  <a:tcPr>
                    <a:solidFill>
                      <a:srgbClr val="1C63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תחום פעילות</a:t>
                      </a:r>
                    </a:p>
                  </a:txBody>
                  <a:tcPr>
                    <a:solidFill>
                      <a:srgbClr val="1C635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בתהליך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05.10.2026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יואב פרץ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מיפוי דרישות אבטחת מידע למערכות החדשות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הושלם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12.09.2026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יואב פרץ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תיאום מול הרשות הממשלתית לחומרים דיגיטליים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בתהליך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20.10.2026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מעיין חן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הכנת ערכת הדרכה לעובדי האגפים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טרם החל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15.10.2026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עו"ד רחל בן-עמי / יואב פרץ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  <a:latin typeface="Calibri"/>
                        </a:rPr>
                        <a:t>מיפוי תהליכי אישור משפטיים לחתימה דיגיטלית</a:t>
                      </a:r>
                    </a:p>
                  </a:txBody>
                  <a:tcPr>
                    <a:solidFill>
                      <a:srgbClr val="F4F6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80160" y="4754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0" i="1">
                <a:solidFill>
                  <a:srgbClr val="595959"/>
                </a:solidFill>
                <a:latin typeface="David"/>
              </a:rPr>
              <a:t>נתוני דמה בדיוניים — לצורך סימולציית פרויקט בלבד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6152" y="137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FFFFFF"/>
                </a:solidFill>
                <a:latin typeface="David"/>
              </a:rPr>
              <a:t>לוח זמנים להטמעה</a:t>
            </a:r>
          </a:p>
        </p:txBody>
      </p:sp>
      <p:sp>
        <p:nvSpPr>
          <p:cNvPr id="4" name="Rectangle 3"/>
          <p:cNvSpPr/>
          <p:nvPr/>
        </p:nvSpPr>
        <p:spPr>
          <a:xfrm>
            <a:off x="8915400" y="1554480"/>
            <a:ext cx="2697480" cy="45720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0" y="15727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ספטמבר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2148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" b="1" i="0">
                <a:solidFill>
                  <a:srgbClr val="1B2A4A"/>
                </a:solidFill>
                <a:latin typeface="David"/>
              </a:rPr>
              <a:t>אישור ועדת היגוי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0" i="0">
                <a:solidFill>
                  <a:srgbClr val="595959"/>
                </a:solidFill>
                <a:latin typeface="David"/>
              </a:rPr>
              <a:t>אישור סופי של תרחיש "מודרניזציה מדורגת"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54480"/>
            <a:ext cx="2697480" cy="45720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5727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רבעון 4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" b="1" i="0">
                <a:solidFill>
                  <a:srgbClr val="1B2A4A"/>
                </a:solidFill>
                <a:latin typeface="David"/>
              </a:rPr>
              <a:t>מכרז ובחירת ספקים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0" i="0">
                <a:solidFill>
                  <a:srgbClr val="595959"/>
                </a:solidFill>
                <a:latin typeface="David"/>
              </a:rPr>
              <a:t>תהליך RFP ובחירת ספקים למערכות ליבה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554480"/>
            <a:ext cx="2697480" cy="45720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5727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רבעון 1 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48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" b="1" i="0">
                <a:solidFill>
                  <a:srgbClr val="1B2A4A"/>
                </a:solidFill>
                <a:latin typeface="David"/>
              </a:rPr>
              <a:t>הטמעת פיילוט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0" i="0">
                <a:solidFill>
                  <a:srgbClr val="595959"/>
                </a:solidFill>
                <a:latin typeface="David"/>
              </a:rPr>
              <a:t>פריסת פיילוט בשני בתי משפט מחוזיים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554480"/>
            <a:ext cx="2697480" cy="457200"/>
          </a:xfrm>
          <a:prstGeom prst="rect">
            <a:avLst/>
          </a:prstGeom>
          <a:solidFill>
            <a:srgbClr val="1C6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572768"/>
            <a:ext cx="2697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רבעון 2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48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" b="1" i="0">
                <a:solidFill>
                  <a:srgbClr val="1B2A4A"/>
                </a:solidFill>
                <a:latin typeface="David"/>
              </a:rPr>
              <a:t>תקשורת ארגונית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2697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50" b="0" i="0">
                <a:solidFill>
                  <a:srgbClr val="595959"/>
                </a:solidFill>
                <a:latin typeface="David"/>
              </a:rPr>
              <a:t>הצגת המבנה הטכנולוגי החדש לכלל האגפים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David"/>
              </a:rPr>
              <a:t>סודי — Meridian Strategy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